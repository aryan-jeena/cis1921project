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6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06B1F"/>
                </a:solidFill>
                <a:latin typeface="Helvetica Neue"/>
              </a:rPr>
              <a:t>CIS 1921 —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181F2B"/>
                </a:solidFill>
                <a:latin typeface="Helvetica Neue"/>
              </a:rPr>
              <a:t>Constraint-Based Training,
Nutrition &amp; Health
Schedule 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55F6D"/>
                </a:solidFill>
                <a:latin typeface="Helvetica Neue"/>
              </a:rPr>
              <a:t>Planning a student's whole week — workouts, meals, sleep, hydration — as one optimization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81F2B"/>
                </a:solidFill>
                <a:latin typeface="Helvetica Neue"/>
              </a:rPr>
              <a:t>Aryan Jeena  ·  Aadithya Srinivasan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55F6D"/>
                </a:solidFill>
                <a:latin typeface="Helvetica Neue"/>
              </a:rPr>
              <a:t>April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06B1F"/>
                </a:solidFill>
                <a:latin typeface="Helvetica Neue"/>
              </a:rPr>
              <a:t>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81F2B"/>
                </a:solidFill>
                <a:latin typeface="Helvetica Neue"/>
              </a:rPr>
              <a:t>Real students don’t plan one thing at a time.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08760"/>
            <a:ext cx="11091672" cy="0"/>
          </a:xfrm>
          <a:prstGeom prst="line">
            <a:avLst/>
          </a:prstGeom>
          <a:ln w="9525">
            <a:solidFill>
              <a:srgbClr val="E5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555F6D"/>
                </a:solidFill>
                <a:latin typeface="Helvetica Neue"/>
              </a:rPr>
              <a:t>2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155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181F2B"/>
                </a:solidFill>
                <a:latin typeface="Helvetica Neue"/>
              </a:rPr>
              <a:t>If you actually want to train, you have to plan workouts, meals, and sleep at the same time. They depend on each 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55F6D"/>
                </a:solidFill>
                <a:latin typeface="Helvetica Neue"/>
              </a:rPr>
              <a:t>But the standard tools split the problem in half.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26280"/>
            <a:ext cx="11091672" cy="1828800"/>
          </a:xfrm>
          <a:prstGeom prst="roundRect">
            <a:avLst>
              <a:gd name="adj" fmla="val 6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81F2B"/>
                </a:solidFill>
                <a:latin typeface="Helvetica Neue"/>
              </a:rPr>
              <a:t>What you usually 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120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55F6D"/>
                </a:solidFill>
                <a:latin typeface="Helvetica Neue"/>
              </a:rPr>
              <a:t>A meal-tracking app picks food. A calendar app schedules events. Neither one knows about the other, so you end up with weeks that look fine on paper — meal prep finishes 15 minutes before a heavy squat session, or your only free hour at the dining hall is right after a hard workout when you can’t eat much. The plan is technically valid but practically useless.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06B1F"/>
                </a:solidFill>
                <a:latin typeface="Helvetica Neue"/>
              </a:rPr>
              <a:t>2 ·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81F2B"/>
                </a:solidFill>
                <a:latin typeface="Helvetica Neue"/>
              </a:rPr>
              <a:t>Four optimizers, all on the same problem, so we can compare them fairly.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08760"/>
            <a:ext cx="11091672" cy="0"/>
          </a:xfrm>
          <a:prstGeom prst="line">
            <a:avLst/>
          </a:prstGeom>
          <a:ln w="9525">
            <a:solidFill>
              <a:srgbClr val="E5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555F6D"/>
                </a:solidFill>
                <a:latin typeface="Helvetica Neue"/>
              </a:rPr>
              <a:t>3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55F6D"/>
                </a:solidFill>
                <a:latin typeface="Helvetica Neue"/>
              </a:rPr>
              <a:t>Each one accepts the same inputs (the user, the food list, the workout list) and returns the same shape of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E06B1F"/>
                </a:solidFill>
                <a:latin typeface="Helvetica Neue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81F2B"/>
                </a:solidFill>
                <a:latin typeface="Helvetica Neue"/>
              </a:rPr>
              <a:t>Nutrition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04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1F6FB0"/>
                </a:solidFill>
                <a:latin typeface="Helvetica Neue"/>
              </a:rPr>
              <a:t>LP / MIP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86200"/>
            <a:ext cx="2423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555F6D"/>
                </a:solidFill>
                <a:latin typeface="Helvetica Neue"/>
              </a:rPr>
              <a:t>Pick foods to hit calorie + protein + budget. Doesn't know about time at all. The classic diet problem.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46888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6517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E06B1F"/>
                </a:solidFill>
                <a:latin typeface="Helvetica Neue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1089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81F2B"/>
                </a:solidFill>
                <a:latin typeface="Helvetica Neue"/>
              </a:rPr>
              <a:t>Two-stage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5204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1F6FB0"/>
                </a:solidFill>
                <a:latin typeface="Helvetica Neue"/>
              </a:rPr>
              <a:t>MIP, then CP-SAT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886200"/>
            <a:ext cx="2423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555F6D"/>
                </a:solidFill>
                <a:latin typeface="Helvetica Neue"/>
              </a:rPr>
              <a:t>First pick the foods, then place them on the calendar with workouts and sleep. The standard textbook decomposition.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46888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6517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E06B1F"/>
                </a:solidFill>
                <a:latin typeface="Helvetica Neue"/>
              </a:rPr>
              <a:t>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1089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81F2B"/>
                </a:solidFill>
                <a:latin typeface="Helvetica Neue"/>
              </a:rPr>
              <a:t>Joint CP-SAT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5204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1F6FB0"/>
                </a:solidFill>
                <a:latin typeface="Helvetica Neue"/>
              </a:rPr>
              <a:t>single CP-SAT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886200"/>
            <a:ext cx="2423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555F6D"/>
                </a:solidFill>
                <a:latin typeface="Helvetica Neue"/>
              </a:rPr>
              <a:t>One model decides foods AND placement at the same time. Can trade a small macro miss for a better-timed schedule.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2468880"/>
            <a:ext cx="2697480" cy="3840480"/>
          </a:xfrm>
          <a:prstGeom prst="roundRect">
            <a:avLst>
              <a:gd name="adj" fmla="val 6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6517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E06B1F"/>
                </a:solidFill>
                <a:latin typeface="Helvetica Neue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10896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81F2B"/>
                </a:solidFill>
                <a:latin typeface="Helvetica Neue"/>
              </a:rPr>
              <a:t>Warm-start hybrid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5204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1F6FB0"/>
                </a:solidFill>
                <a:latin typeface="Helvetica Neue"/>
              </a:rPr>
              <a:t>two-stage seeds joint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886200"/>
            <a:ext cx="2423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555F6D"/>
                </a:solidFill>
                <a:latin typeface="Helvetica Neue"/>
              </a:rPr>
              <a:t>Run two-stage first as a hint, then let the joint solver refine it. Same model as #3, just smarter starting 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06B1F"/>
                </a:solidFill>
                <a:latin typeface="Helvetica Neue"/>
              </a:rPr>
              <a:t>2 ·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81F2B"/>
                </a:solidFill>
                <a:latin typeface="Helvetica Neue"/>
              </a:rPr>
              <a:t>How the model thinks about the week.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08760"/>
            <a:ext cx="11091672" cy="0"/>
          </a:xfrm>
          <a:prstGeom prst="line">
            <a:avLst/>
          </a:prstGeom>
          <a:ln w="9525">
            <a:solidFill>
              <a:srgbClr val="E5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555F6D"/>
                </a:solidFill>
                <a:latin typeface="Helvetica Neue"/>
              </a:rPr>
              <a:t>4 /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F6FB0"/>
                </a:solidFill>
                <a:latin typeface="Helvetica Neue"/>
              </a:rPr>
              <a:t>TIME LIVES IN INTEGERS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81F2B"/>
                </a:solidFill>
                <a:latin typeface="Helvetica Neue"/>
              </a:rPr>
              <a:t>7 days × 48 half-hour slots = 336 slots/week.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555F6D"/>
                </a:solidFill>
                <a:latin typeface="Helvetica Neue"/>
              </a:rPr>
              <a:t>We work in integer slots, integer cents, and integer grams because CP-SAT needs integer math anyway and it makes the tests easy to write. Half-hour slots are fine enough to express a real schedule (lifts, meals, sleep) and coarse enough that the search stays fast.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78308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9659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F6FB0"/>
                </a:solidFill>
                <a:latin typeface="Helvetica Neue"/>
              </a:rPr>
              <a:t>WHAT THE SOLVER DECIDES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2860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81F2B"/>
                </a:solidFill>
                <a:latin typeface="Helvetica Neue"/>
              </a:rPr>
              <a:t>Servings of each food, where each meal sits, when each workout starts, when sleep begins.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3246120"/>
            <a:ext cx="48463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555F6D"/>
                </a:solidFill>
                <a:latin typeface="Helvetica Neue"/>
              </a:rPr>
              <a:t>It honors hard rules — calorie band, protein floor, weekly budget, no two activities at once, recovery between hard workouts, sleep window — and it minimises a soft cost: macro deviation, money spent, missed peri-workout meals, missed hydration, day preferences. Hard things are constraints. Soft things are the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06B1F"/>
                </a:solidFill>
                <a:latin typeface="Helvetica Neue"/>
              </a:rPr>
              <a:t>3 ·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81F2B"/>
                </a:solidFill>
                <a:latin typeface="Helvetica Neue"/>
              </a:rPr>
              <a:t>Switching to the terminal — let's run 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08760"/>
            <a:ext cx="11091672" cy="0"/>
          </a:xfrm>
          <a:prstGeom prst="line">
            <a:avLst/>
          </a:prstGeom>
          <a:ln w="9525">
            <a:solidFill>
              <a:srgbClr val="E5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555F6D"/>
                </a:solidFill>
                <a:latin typeface="Helvetica Neue"/>
              </a:rPr>
              <a:t>5 /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1091672" cy="2331720"/>
          </a:xfrm>
          <a:prstGeom prst="roundRect">
            <a:avLst>
              <a:gd name="adj" fmla="val 6000"/>
            </a:avLst>
          </a:prstGeom>
          <a:solidFill>
            <a:srgbClr val="1B2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6C86E"/>
                </a:solidFill>
                <a:latin typeface="Helvetica Neue"/>
              </a:rPr>
              <a:t>1.  Run all four solvers on a balanced 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AEAEA"/>
                </a:solidFill>
                <a:latin typeface="Menlo"/>
              </a:rPr>
              <a:t>$  .venv/bin/python  scripts/run_demo.py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6C86E"/>
                </a:solidFill>
                <a:latin typeface="Helvetica Neue"/>
              </a:rPr>
              <a:t>2.  Solve a denser week with the joint optimizer + render the schedule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AEAEA"/>
                </a:solidFill>
                <a:latin typeface="Menlo"/>
              </a:rPr>
              <a:t>$  .venv/bin/python  -m  src.app.cli  solve  --preset  dense_training  --solver  joint_cpsat  --figure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6C86E"/>
                </a:solidFill>
                <a:latin typeface="Helvetica Neue"/>
              </a:rPr>
              <a:t>3.  Open the rendered weekly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EAEAEA"/>
                </a:solidFill>
                <a:latin typeface="Menlo"/>
              </a:rPr>
              <a:t>$  open  reports/figures/schedule_dense_training_joint_cpsat.png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110916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555F6D"/>
                </a:solidFill>
                <a:latin typeface="Helvetica Neue"/>
              </a:rPr>
              <a:t>What you'll see: every solver hits its goal in seconds, then we'll look at the actual seven-day plan that comes out — meals in the right windows, seven workouts spread across the week with recovery gaps between hard sessions, sleep blocks each night, hydration spaced through the day. All from one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06B1F"/>
                </a:solidFill>
                <a:latin typeface="Helvetica Neue"/>
              </a:rPr>
              <a:t>4 · 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81F2B"/>
                </a:solidFill>
                <a:latin typeface="Helvetica Neue"/>
              </a:rPr>
              <a:t>How fast does it run as the food list grows?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08760"/>
            <a:ext cx="11091672" cy="0"/>
          </a:xfrm>
          <a:prstGeom prst="line">
            <a:avLst/>
          </a:prstGeom>
          <a:ln w="9525">
            <a:solidFill>
              <a:srgbClr val="E5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555F6D"/>
                </a:solidFill>
                <a:latin typeface="Helvetica Neue"/>
              </a:rPr>
              <a:t>6 / 9</a:t>
            </a:r>
          </a:p>
        </p:txBody>
      </p:sp>
      <p:pic>
        <p:nvPicPr>
          <p:cNvPr id="7" name="Picture 6" descr="final_runtime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995680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0" y="1783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06B1F"/>
                </a:solidFill>
                <a:latin typeface="Helvetica Neue"/>
              </a:rPr>
              <a:t>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103120"/>
            <a:ext cx="36576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81F2B"/>
                </a:solidFill>
                <a:latin typeface="Helvetica Neue"/>
              </a:rPr>
              <a:t>•  Nutrition-only stays fast no matter how big the food list gets — it's a textbook diet problem.
•  Joint CP-SAT is great up to about 80 foods. After that the search space starts to bite.
•  The warm-start hybrid catches up on the harder, larger instances by giving CP-SAT a feasible plan to start from.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06B1F"/>
                </a:solidFill>
                <a:latin typeface="Helvetica Neue"/>
              </a:rPr>
              <a:t>4 · 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81F2B"/>
                </a:solidFill>
                <a:latin typeface="Helvetica Neue"/>
              </a:rPr>
              <a:t>Where the joint solver beats the baselines.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08760"/>
            <a:ext cx="11091672" cy="0"/>
          </a:xfrm>
          <a:prstGeom prst="line">
            <a:avLst/>
          </a:prstGeom>
          <a:ln w="9525">
            <a:solidFill>
              <a:srgbClr val="E5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555F6D"/>
                </a:solidFill>
                <a:latin typeface="Helvetica Neue"/>
              </a:rPr>
              <a:t>7 / 9</a:t>
            </a:r>
          </a:p>
        </p:txBody>
      </p:sp>
      <p:pic>
        <p:nvPicPr>
          <p:cNvPr id="7" name="Picture 6" descr="final_feasibil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924800" cy="3566160"/>
          </a:xfrm>
          <a:prstGeom prst="rect">
            <a:avLst/>
          </a:prstGeom>
        </p:spPr>
      </p:pic>
      <p:pic>
        <p:nvPicPr>
          <p:cNvPr id="8" name="Picture 7" descr="final_objectiv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6240780" cy="3566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532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555F6D"/>
                </a:solidFill>
                <a:latin typeface="Helvetica Neue"/>
              </a:rPr>
              <a:t>Which solvers find a feasible plan for which instance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532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555F6D"/>
                </a:solidFill>
                <a:latin typeface="Helvetica Neue"/>
              </a:rPr>
              <a:t>What the solver is actually paying penalty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916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555F6D"/>
                </a:solidFill>
                <a:latin typeface="Helvetica Neue"/>
              </a:rPr>
              <a:t>When the schedule gets tight, the two-stage decomposition can commit to foods that the calendar can't fit. The joint solver handles those cases by trading a small macro miss for a feasible week. On loose problems both solvers tie — that's expected.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06B1F"/>
                </a:solidFill>
                <a:latin typeface="Helvetica Neue"/>
              </a:rPr>
              <a:t>4 · KEY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81F2B"/>
                </a:solidFill>
                <a:latin typeface="Helvetica Neue"/>
              </a:rPr>
              <a:t>What we learned.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08760"/>
            <a:ext cx="11091672" cy="0"/>
          </a:xfrm>
          <a:prstGeom prst="line">
            <a:avLst/>
          </a:prstGeom>
          <a:ln w="9525">
            <a:solidFill>
              <a:srgbClr val="E5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555F6D"/>
                </a:solidFill>
                <a:latin typeface="Helvetica Neue"/>
              </a:rPr>
              <a:t>8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81F2B"/>
                </a:solidFill>
                <a:latin typeface="Helvetica Neue"/>
              </a:rPr>
              <a:t>Joint beats two-stage when the schedule is tight.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10916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55F6D"/>
                </a:solidFill>
                <a:latin typeface="Helvetica Neue"/>
              </a:rPr>
              <a:t>If the user has limited free hours and lots of workouts, two-stage picks foods first and then realises the calendar can't fit them. The joint solver doesn't get into that bind because it sees both decisions at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81F2B"/>
                </a:solidFill>
                <a:latin typeface="Helvetica Neue"/>
              </a:rPr>
              <a:t>Warm-starting helps on the hard cases, not the easy 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110916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55F6D"/>
                </a:solidFill>
                <a:latin typeface="Helvetica Neue"/>
              </a:rPr>
              <a:t>Big food lists with tight constraints — the joint solver is much faster from a hint. Small loose instances — running two-stage first is wasted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81F2B"/>
                </a:solidFill>
                <a:latin typeface="Helvetica Neue"/>
              </a:rPr>
              <a:t>When the problem is infeasible, our solver tells you why.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26280"/>
            <a:ext cx="110916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55F6D"/>
                </a:solidFill>
                <a:latin typeface="Helvetica Neue"/>
              </a:rPr>
              <a:t>We use CP-SAT's assumption literals to point at the smallest set of constraints the user has to relax — calorie band, budget, workouts, or scheduling overlaps. Saves users from staring at an empty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81F2B"/>
                </a:solidFill>
                <a:latin typeface="Helvetica Neue"/>
              </a:rPr>
              <a:t>Hydration was almost free.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9167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555F6D"/>
                </a:solidFill>
                <a:latin typeface="Helvetica Neue"/>
              </a:rPr>
              <a:t>We added it as a soft objective with sliding-window spacing. It never blew up the runtime, even on the largest instances.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06B1F"/>
                </a:solidFill>
                <a:latin typeface="Helvetica Neue"/>
              </a:rPr>
              <a:t>5 ·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81F2B"/>
                </a:solidFill>
                <a:latin typeface="Helvetica Neue"/>
              </a:rPr>
              <a:t>Future work, what's in the box, thank you.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08760"/>
            <a:ext cx="11091672" cy="0"/>
          </a:xfrm>
          <a:prstGeom prst="line">
            <a:avLst/>
          </a:prstGeom>
          <a:ln w="9525">
            <a:solidFill>
              <a:srgbClr val="E5E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555F6D"/>
                </a:solidFill>
                <a:latin typeface="Helvetica Neue"/>
              </a:rPr>
              <a:t>9 /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94960" cy="3611880"/>
          </a:xfrm>
          <a:prstGeom prst="roundRect">
            <a:avLst>
              <a:gd name="adj" fmla="val 6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06B1F"/>
                </a:solidFill>
                <a:latin typeface="Helvetica Neue"/>
              </a:rPr>
              <a:t>WHERE WE'D GO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81F2B"/>
                </a:solidFill>
                <a:latin typeface="Helvetica Neue"/>
              </a:rPr>
              <a:t>Scale past 200 foods.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15768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55F6D"/>
                </a:solidFill>
                <a:latin typeface="Helvetica Neue"/>
              </a:rPr>
              <a:t>Column generation or a Benders-style decomposition would handle bigger food lists.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81F2B"/>
                </a:solidFill>
                <a:latin typeface="Helvetica Neue"/>
              </a:rPr>
              <a:t>Re-plan during the week.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84448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55F6D"/>
                </a:solidFill>
                <a:latin typeface="Helvetica Neue"/>
              </a:rPr>
              <a:t>Missed a workout? Re-solve the remaining days from where you actually 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81F2B"/>
                </a:solidFill>
                <a:latin typeface="Helvetica Neue"/>
              </a:rPr>
              <a:t>Hook into real Penn Dining.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53128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55F6D"/>
                </a:solidFill>
                <a:latin typeface="Helvetica Neue"/>
              </a:rPr>
              <a:t>Cookie-aware scraper for the live menu — currently using a curated sample.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783080"/>
            <a:ext cx="5394960" cy="3611880"/>
          </a:xfrm>
          <a:prstGeom prst="roundRect">
            <a:avLst>
              <a:gd name="adj" fmla="val 6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9659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F6FB0"/>
                </a:solidFill>
                <a:latin typeface="Helvetica Neue"/>
              </a:rPr>
              <a:t>WHAT'S IN THE 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4231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81F2B"/>
                </a:solidFill>
                <a:latin typeface="Helvetica Neue"/>
              </a:rPr>
              <a:t>•  Around 5,000 lines of Python, mostly solver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80720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81F2B"/>
                </a:solidFill>
                <a:latin typeface="Helvetica Neue"/>
              </a:rPr>
              <a:t>•  37 unit tests, all passing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319125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81F2B"/>
                </a:solidFill>
                <a:latin typeface="Helvetica Neue"/>
              </a:rPr>
              <a:t>•  Four solver implementations on a shared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575304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81F2B"/>
                </a:solidFill>
                <a:latin typeface="Helvetica Neue"/>
              </a:rPr>
              <a:t>•  Six pre-made user scenarios + a synthetic 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95935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81F2B"/>
                </a:solidFill>
                <a:latin typeface="Helvetica Neue"/>
              </a:rPr>
              <a:t>•  Penn Dining + USDA + curated food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34340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81F2B"/>
                </a:solidFill>
                <a:latin typeface="Helvetica Neue"/>
              </a:rPr>
              <a:t>•  A streamlit UI and a command-line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72744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81F2B"/>
                </a:solidFill>
                <a:latin typeface="Helvetica Neue"/>
              </a:rPr>
              <a:t>•  Final report with runtime, feasibility, and objective figures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532120"/>
            <a:ext cx="11091672" cy="1005840"/>
          </a:xfrm>
          <a:prstGeom prst="roundRect">
            <a:avLst>
              <a:gd name="adj" fmla="val 6000"/>
            </a:avLst>
          </a:prstGeom>
          <a:solidFill>
            <a:srgbClr val="18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96712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AFAF7"/>
                </a:solidFill>
                <a:latin typeface="Helvetica Neue"/>
              </a:rPr>
              <a:t>Thank you  —  questions?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CFCFCF"/>
                </a:solidFill>
                <a:latin typeface="Helvetica Neue"/>
              </a:rPr>
              <a:t>github.com/aryan-jeena/CIS1921Project   ·   Aryan Jeena &amp; Aadithya Srinivasan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