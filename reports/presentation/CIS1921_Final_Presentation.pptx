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06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06B1F"/>
                </a:solidFill>
                <a:latin typeface="Helvetica Neue"/>
              </a:rPr>
              <a:t>CIS 1921 —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81F2B"/>
                </a:solidFill>
                <a:latin typeface="Helvetica Neue"/>
              </a:rPr>
              <a:t>Constraint-Based Training,
Nutrition &amp; Health
Schedule Optimizer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55F6D"/>
                </a:solidFill>
                <a:latin typeface="Helvetica Neue"/>
              </a:rPr>
              <a:t>A weekly fitness + nutrition optimizer with four directly comparable LP/MIP &amp; CP-SAT formulations.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81F2B"/>
                </a:solidFill>
                <a:latin typeface="Helvetica Neue"/>
              </a:rPr>
              <a:t>Aryan Jeena  ·  Aadithya Srinivasan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F6D"/>
                </a:solidFill>
                <a:latin typeface="Helvetica Neue"/>
              </a:rPr>
              <a:t>April 28,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Real students don’t plan one dimension at a time.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2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11556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181F2B"/>
                </a:solidFill>
                <a:latin typeface="Helvetica Neue"/>
              </a:rPr>
              <a:t>Training adherence depends on more than macros. WHEN you eat, WHEN you lift, and WHEN you sleep all matter — and real students juggle class schedules, dining-hall windows, budgets, and recovery rules at the same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23360"/>
            <a:ext cx="11091672" cy="210312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519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The standard “meal planner + calendar app”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555F6D"/>
                </a:solidFill>
                <a:latin typeface="Helvetica Neue"/>
              </a:rPr>
              <a:t>Solves each dimension independently and produces plans that are technically compliant but practically useless — e.g. a meal prep that finishes 15 minutes before a heavy squat session, or a schedule that hits macros only by ignoring the dining-hall window.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06B1F"/>
                </a:solidFill>
                <a:latin typeface="Helvetica Neue"/>
              </a:rPr>
              <a:t>→ The joint formulation is the whole 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2 · PROJECT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Time grid, decision variables, hard + soft constraints.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3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FB0"/>
                </a:solidFill>
                <a:latin typeface="Helvetica Neue"/>
              </a:rPr>
              <a:t>DOMAIN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7 days × 48 half-hour slots = 336 slots/week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555F6D"/>
                </a:solidFill>
                <a:latin typeface="Helvetica Neue"/>
              </a:rPr>
              <a:t>Everything in integers (cents, grams, slots). CP-SAT requires integer coefficients and integer arithmetic also keeps the unit tests reproducible across runs.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FB0"/>
                </a:solidFill>
                <a:latin typeface="Helvetica Neue"/>
              </a:rPr>
              <a:t>DECISION VARIABLES (joint model)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serve[d, m, f] — int servings of food f in meal m on day 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00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meal_active[d, m] — boolean, reified to total servings ≥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1091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meal_start[d, m] + meal_iv[d, m] — optional CP-SAT interval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21808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wk_sched[d, w], wk_start[d, w], wk_iv[d, w] — workout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3270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sleep block per night + per-slot hydration booleans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69164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FB0"/>
                </a:solidFill>
                <a:latin typeface="Helvetica Neue"/>
              </a:rPr>
              <a:t>SHARED SOLVER CONTRACT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19456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All four solvers implement BaseSolver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7432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81F2B"/>
                </a:solidFill>
                <a:latin typeface="Helvetica Neue"/>
              </a:rPr>
              <a:t>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06324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•  UserProfile  — macros, budget, exclusions, availability, pantry
•  list[FoodItem]  — Penn Dining + USDA + curated sample
•  list[WorkoutTemplate]  — duration, intensity, recovery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480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81F2B"/>
                </a:solidFill>
                <a:latin typeface="Helvetica Neue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480060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•  SolverResult { status, objective, runtime_s, plan }
•  Plan with daily meals, workouts, sleep blocks, totals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7150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E06B1F"/>
                </a:solidFill>
                <a:latin typeface="Helvetica Neue"/>
              </a:rPr>
              <a:t>→ Same input/output across all formulations means the experiment runner produces apples-to-apples runtime, feasibility, and objective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2 · PROJECT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Four directly comparable formulations.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4 / 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82528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93392"/>
                <a:gridCol w="1993392"/>
                <a:gridCol w="1993392"/>
                <a:gridCol w="1993392"/>
              </a:tblGrid>
              <a:tr h="53721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18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AFAF7"/>
                          </a:solidFill>
                          <a:latin typeface="Helvetica Neue"/>
                        </a:rPr>
                        <a:t>nutrition_only</a:t>
                      </a:r>
                    </a:p>
                  </a:txBody>
                  <a:tcPr>
                    <a:solidFill>
                      <a:srgbClr val="18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AFAF7"/>
                          </a:solidFill>
                          <a:latin typeface="Helvetica Neue"/>
                        </a:rPr>
                        <a:t>two_stage</a:t>
                      </a:r>
                    </a:p>
                  </a:txBody>
                  <a:tcPr>
                    <a:solidFill>
                      <a:srgbClr val="18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AFAF7"/>
                          </a:solidFill>
                          <a:latin typeface="Helvetica Neue"/>
                        </a:rPr>
                        <a:t>joint_cpsat</a:t>
                      </a:r>
                    </a:p>
                  </a:txBody>
                  <a:tcPr>
                    <a:solidFill>
                      <a:srgbClr val="181F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AFAF7"/>
                          </a:solidFill>
                          <a:latin typeface="Helvetica Neue"/>
                        </a:rPr>
                        <a:t>joint_warmstart</a:t>
                      </a:r>
                    </a:p>
                  </a:txBody>
                  <a:tcPr>
                    <a:solidFill>
                      <a:srgbClr val="181F2B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Macros + budget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Workout scheduling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Sleep + recovery spacing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Peri-workout meal timing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partial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Trade macro slack ↔ schedule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Warm-start from two-stage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B02A2A"/>
                          </a:solidFill>
                          <a:latin typeface="Helvetica Neue"/>
                        </a:rPr>
                        <a:t>✗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6804C"/>
                          </a:solidFill>
                          <a:latin typeface="Helvetica Neue"/>
                        </a:rPr>
                        <a:t>✓</a:t>
                      </a:r>
                    </a:p>
                  </a:txBody>
                  <a:tcPr>
                    <a:solidFill>
                      <a:srgbClr val="F1EEE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Technique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LP / MIP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MIP → CP-SAT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CP-SAT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81F2B"/>
                          </a:solidFill>
                          <a:latin typeface="Helvetica Neue"/>
                        </a:rPr>
                        <a:t>CP-SAT + AddHint</a:t>
                      </a:r>
                    </a:p>
                  </a:txBody>
                  <a:tcPr>
                    <a:solidFill>
                      <a:srgbClr val="FAFA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F6D"/>
                </a:solidFill>
                <a:latin typeface="Helvetica Neue"/>
              </a:rPr>
              <a:t>Joint CP-SAT is the marquee model — a single CP-SAT model where the solver can trade a small macro deviation for a better-timed schedule, which neither baseline can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2 · PROJECT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Hard constraints vs soft objective, kept explicit in code.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5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HARD CONSTRAINTS  (the user’s goals)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81F2B"/>
                </a:solidFill>
                <a:latin typeface="Helvetica Neue"/>
              </a:rPr>
              <a:t>Encoded as model constraints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Daily calorie band ± tolerance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2666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Daily protein floor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55848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Weekly budget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850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Dietary exclusions / pantry restriction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AddNoOverlap on meals + workouts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43399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Recovery spacing between hard workouts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67258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Max consecutive hard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001768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Workout count range (min, max)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Sleep + availability windows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1691640"/>
            <a:ext cx="5394960" cy="4572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FB0"/>
                </a:solidFill>
                <a:latin typeface="Helvetica Neue"/>
              </a:rPr>
              <a:t>SOFT OBJECTIVE  (9 weighted terms)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22402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81F2B"/>
                </a:solidFill>
                <a:latin typeface="Helvetica Neue"/>
              </a:rPr>
              <a:t>Linearised cost minimised by every solver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697480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Calorie / carb / fat deviation penalties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02666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Cost (per cent of food)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355848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Per-meal protein shortfall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6850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Peri-workout meal-timing miss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014216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Hydration shortfall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4343399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Preferred / avoided workout days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4672584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Convenience bonus  (negative term)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E06B1F"/>
                </a:solidFill>
                <a:latin typeface="Helvetica Neue"/>
              </a:rPr>
              <a:t>Adherence is a CONSTRAINT.  Cheapness, macro fit, and schedule pleasantness are the OBJECTIVE.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3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Switching to the terminal — all four solvers, balanced scenario.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6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11091672" cy="4206240"/>
          </a:xfrm>
          <a:prstGeom prst="roundRect">
            <a:avLst>
              <a:gd name="adj" fmla="val 6000"/>
            </a:avLst>
          </a:prstGeom>
          <a:solidFill>
            <a:srgbClr val="1B2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6C86E"/>
                </a:solidFill>
                <a:latin typeface="Menlo"/>
              </a:rPr>
              <a:t>$ python scripts/run_demo.py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EAEAEA"/>
                </a:solidFill>
                <a:latin typeface="Menlo"/>
              </a:rPr>
              <a:t>
Demo run on scenario='balanced_1921' (56 foods, 10 workouts)
--- nutrition_only ---  status=OPTIMAL  runtime=0.09s   obj=-266
--- two_stage      ---  status=OPTIMAL  runtime=0.21s   obj=   0
--- joint_cpsat    ---  status=OPTIMAL  runtime=1.33s   obj=-266
--- joint_warmstart---  status=OPTIMAL  runtime=1.52s   obj=-266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3035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6C86E"/>
                </a:solidFill>
                <a:latin typeface="Menlo"/>
              </a:rPr>
              <a:t>$ python -m src.app.cli solve --preset lean_bulk --solver joint_cpsat --figure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8076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F6D"/>
                </a:solidFill>
                <a:latin typeface="Helvetica Neue"/>
              </a:rPr>
              <a:t>Live: a 7-day plan rendered with meals in their availability windows, 3 workouts respecting recovery rules, sleep blocks each night, and 3120 kcal / 202g protein / day matching the lean-bulk targets.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4 · KEY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Runtime scaling — catalog size 10 → 200 foods.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7 / 10</a:t>
            </a:r>
          </a:p>
        </p:txBody>
      </p:sp>
      <p:pic>
        <p:nvPicPr>
          <p:cNvPr id="7" name="Picture 6" descr="final_runtime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995680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783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WHAT THIS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103120"/>
            <a:ext cx="365760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nutrition_only stays sub-second
   across the entire sweep — it’s
   a textbook diet MIP.
•  Joint CP-SAT remains practical
   up to ~80 foods. Past that the
   (food × meal × day)
   combinatorics start to bite.
•  Warm-start narrows the gap on
   big catalogs by seeding the
   joint model from a feasible
   two-stage plan via
   model.AddHint(...).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4 · KEY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Feasibility heatmap and objective breakdown.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8 / 10</a:t>
            </a:r>
          </a:p>
        </p:txBody>
      </p:sp>
      <p:pic>
        <p:nvPicPr>
          <p:cNvPr id="7" name="Picture 6" descr="final_feasibil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7924800" cy="3566160"/>
          </a:xfrm>
          <a:prstGeom prst="rect">
            <a:avLst/>
          </a:prstGeom>
        </p:spPr>
      </p:pic>
      <p:pic>
        <p:nvPicPr>
          <p:cNvPr id="8" name="Picture 7" descr="final_objective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691640"/>
            <a:ext cx="624078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440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555F6D"/>
                </a:solidFill>
                <a:latin typeface="Helvetica Neue"/>
              </a:rPr>
              <a:t>Feasibility per (instance × solver)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4406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555F6D"/>
                </a:solidFill>
                <a:latin typeface="Helvetica Neue"/>
              </a:rPr>
              <a:t>Stacked objective by penalty term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897880"/>
            <a:ext cx="110916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F6D"/>
                </a:solidFill>
                <a:latin typeface="Helvetica Neue"/>
              </a:rPr>
              <a:t>Where the joint pays off: instances where the two-stage commits to food choices the scheduler then cannot fit. Where it doesn’t: small loose instances where the MIP-then-schedule baseline reaches OPTIMAL faster than the joint can presolve.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4 · KEY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What we learned.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9 /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Joint &gt; two-stage when constraints are tight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110916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The two-stage decomposition can commit to food choices the scheduler then cannot fit. The joint model trades a small macro deviation for a feasible schedule directly — exactly the gap CLAUDE.md predicted.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Warm-start helps where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16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On large catalogs the joint solver is faster from a seeded plan via model.AddHint(...). On tiny loose instances the two-stage pre-pass is wasted overhead, so the cold joint 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Assumption-literal IIS pays 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916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When the joint model is infeasible, SufficientAssumptionsForInfeasibility() returns the smallest group(s) the user must relax: calorie band, protein floor, budget, workout count, or scheduling overlaps.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81F2B"/>
                </a:solidFill>
                <a:latin typeface="Helvetica Neue"/>
              </a:rPr>
              <a:t>Hydration was 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40680"/>
            <a:ext cx="1109167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555F6D"/>
                </a:solidFill>
                <a:latin typeface="Helvetica Neue"/>
              </a:rPr>
              <a:t>Sliding-window pairwise spacing on a daytime window with a soft shortfall term — never increased runtime past the time limit on any feasible instance.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5 ·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81F2B"/>
                </a:solidFill>
                <a:latin typeface="Helvetica Neue"/>
              </a:rPr>
              <a:t>Future work, repo, thanks.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9525">
            <a:solidFill>
              <a:srgbClr val="E5E3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55F6D"/>
                </a:solidFill>
                <a:latin typeface="Helvetica Neue"/>
              </a:rPr>
              <a:t>10 /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06B1F"/>
                </a:solidFill>
                <a:latin typeface="Helvetica Neue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81F2B"/>
                </a:solidFill>
                <a:latin typeface="Helvetica Neue"/>
              </a:rPr>
              <a:t>Solver scaling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55F6D"/>
                </a:solidFill>
                <a:latin typeface="Helvetica Neue"/>
              </a:rPr>
              <a:t>Column generation / Benders-style decomposition past 200 foods.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81F2B"/>
                </a:solidFill>
                <a:latin typeface="Helvetica Neue"/>
              </a:rPr>
              <a:t>Online re-optimization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55F6D"/>
                </a:solidFill>
                <a:latin typeface="Helvetica Neue"/>
              </a:rPr>
              <a:t>Missed workout triggers a partial re-solve over remaining days.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12464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81F2B"/>
                </a:solidFill>
                <a:latin typeface="Helvetica Neue"/>
              </a:rPr>
              <a:t>Real Penn Dining scrape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05072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55F6D"/>
                </a:solidFill>
                <a:latin typeface="Helvetica Neue"/>
              </a:rPr>
              <a:t>Cookie-aware Playwright fetcher behind a feature flag.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42569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81F2B"/>
                </a:solidFill>
                <a:latin typeface="Helvetica Neue"/>
              </a:rPr>
              <a:t>Hard per-meal protein floor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18304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55F6D"/>
                </a:solidFill>
                <a:latin typeface="Helvetica Neue"/>
              </a:rPr>
              <a:t>Currently soft; promote in pantry mode for athlete users.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69164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8745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F6FB0"/>
                </a:solidFill>
                <a:latin typeface="Helvetica Neue"/>
              </a:rPr>
              <a:t>WHAT’S IN THE 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5,176 LOC src/  (≈ 2,000 LOC pure solver code)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26974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37 unit tests, all passing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3063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Parameterized instance generator (10 → 200 foods)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4290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5 figure types × 3 sweep prefixes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37947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Penn Dining + USDA + curated sample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1605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Streamlit UI + CLI + JSON presets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81F2B"/>
                </a:solidFill>
                <a:latin typeface="Helvetica Neue"/>
              </a:rPr>
              <a:t>•  Final report — 456 lines of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3212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18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696712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AFAF7"/>
                </a:solidFill>
                <a:latin typeface="Helvetica Neue"/>
              </a:rPr>
              <a:t>Thank you  —  questions?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12648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CFCFCF"/>
                </a:solidFill>
                <a:latin typeface="Helvetica Neue"/>
              </a:rPr>
              <a:t>github.com/aryan-jeena/CIS1921Project   ·   Aryan Jeena &amp; Aadithya Srinivasan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